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02"/>
  </p:normalViewPr>
  <p:slideViewPr>
    <p:cSldViewPr snapToGrid="0">
      <p:cViewPr>
        <p:scale>
          <a:sx n="100" d="100"/>
          <a:sy n="100" d="100"/>
        </p:scale>
        <p:origin x="205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6AE-CCEE-2741-9EC0-2CDA49707BDC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C6336-BB06-D249-9FDD-95366A21A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4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C6336-BB06-D249-9FDD-95366A21A8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5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76FE-10BC-CB7A-5C8D-16794B1E71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Learning-Based Defect Detection and Localization in Steel Surface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C2878-EF4B-2303-DF9F-F591FE3B9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Rusty Johnston – ECEN 5743 final project – Spring ‘26</a:t>
            </a:r>
          </a:p>
        </p:txBody>
      </p:sp>
    </p:spTree>
    <p:extLst>
      <p:ext uri="{BB962C8B-B14F-4D97-AF65-F5344CB8AC3E}">
        <p14:creationId xmlns:p14="http://schemas.microsoft.com/office/powerpoint/2010/main" val="164407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52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42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080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C0FCE9-D6DA-0EFC-DDEC-E12BE9DC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Motivation</a:t>
            </a:r>
          </a:p>
        </p:txBody>
      </p:sp>
      <p:sp useBgFill="1">
        <p:nvSpPr>
          <p:cNvPr id="1082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Screenshot from pipeline inspection data with Magnetic Flux Leakage Technology (MFL)">
            <a:extLst>
              <a:ext uri="{FF2B5EF4-FFF2-40B4-BE49-F238E27FC236}">
                <a16:creationId xmlns:a16="http://schemas.microsoft.com/office/drawing/2014/main" id="{97E67B19-1EFD-5531-B284-3B08AEDD7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2893" y="1147145"/>
            <a:ext cx="4567773" cy="45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339E-03F3-2B6D-DD47-09743F1A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Magnetic Flux Leakage (MFL) used for pipeline defect detection</a:t>
            </a:r>
          </a:p>
          <a:p>
            <a:r>
              <a:rPr lang="en-US">
                <a:solidFill>
                  <a:srgbClr val="FFFFFF"/>
                </a:solidFill>
              </a:rPr>
              <a:t>Produces grayscale “field maps” of material anomalies</a:t>
            </a:r>
          </a:p>
          <a:p>
            <a:r>
              <a:rPr lang="en-US">
                <a:solidFill>
                  <a:srgbClr val="FFFFFF"/>
                </a:solidFill>
              </a:rPr>
              <a:t>Requires: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Defect detection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Defect localization</a:t>
            </a:r>
          </a:p>
        </p:txBody>
      </p:sp>
    </p:spTree>
    <p:extLst>
      <p:ext uri="{BB962C8B-B14F-4D97-AF65-F5344CB8AC3E}">
        <p14:creationId xmlns:p14="http://schemas.microsoft.com/office/powerpoint/2010/main" val="4147219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3E27-8009-30C8-E25F-9AE95061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3C15-9F1B-3547-BCC1-6153C2321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Steel surface images ≈ MFL signal maps</a:t>
            </a:r>
          </a:p>
          <a:p>
            <a:r>
              <a:rPr lang="en-US" dirty="0"/>
              <a:t>Defects appear as spatial patterns in grayscale data</a:t>
            </a:r>
          </a:p>
          <a:p>
            <a:r>
              <a:rPr lang="en-US" dirty="0"/>
              <a:t>Similar ML task:</a:t>
            </a:r>
          </a:p>
          <a:p>
            <a:pPr lvl="1"/>
            <a:r>
              <a:rPr lang="en-US" dirty="0"/>
              <a:t>Identify presence of defects</a:t>
            </a:r>
          </a:p>
          <a:p>
            <a:pPr lvl="1"/>
            <a:r>
              <a:rPr lang="en-US" dirty="0"/>
              <a:t>Locate defect regions</a:t>
            </a:r>
          </a:p>
        </p:txBody>
      </p:sp>
    </p:spTree>
    <p:extLst>
      <p:ext uri="{BB962C8B-B14F-4D97-AF65-F5344CB8AC3E}">
        <p14:creationId xmlns:p14="http://schemas.microsoft.com/office/powerpoint/2010/main" val="12560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C1BD-64DB-17E7-64A5-42E302BB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Severstal Steel Defect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805E-4BD5-8195-E846-A96F0377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 competition dataset</a:t>
            </a:r>
          </a:p>
          <a:p>
            <a:r>
              <a:rPr lang="en-US" dirty="0"/>
              <a:t>High-resolution grayscale steel surface images</a:t>
            </a:r>
          </a:p>
          <a:p>
            <a:r>
              <a:rPr lang="en-US" dirty="0"/>
              <a:t>Pixel-level defect annotations (RLE encoded masks)</a:t>
            </a:r>
          </a:p>
          <a:p>
            <a:r>
              <a:rPr lang="en-US" dirty="0"/>
              <a:t>4 defect classes + non-defective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C5C30-C199-0FEE-D3EF-CFF51EAD5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1" y="4941316"/>
            <a:ext cx="7772400" cy="12435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10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8EAD-0268-7BBD-94AA-9B18820B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56160-89A8-18AA-33FC-F49CC95B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Binary classification (CNN)</a:t>
            </a:r>
          </a:p>
          <a:p>
            <a:r>
              <a:rPr lang="en-US" dirty="0"/>
              <a:t>Step 2: Multiclass segmentation (U-Net, 4 classes)</a:t>
            </a:r>
          </a:p>
          <a:p>
            <a:r>
              <a:rPr lang="en-US" dirty="0"/>
              <a:t>Step 3: Binary segmentation (U-Net, defect vs background)</a:t>
            </a:r>
          </a:p>
          <a:p>
            <a:r>
              <a:rPr lang="en-US" dirty="0"/>
              <a:t>Framework:</a:t>
            </a:r>
          </a:p>
          <a:p>
            <a:pPr lvl="1"/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GPU: NVIDIA A10G </a:t>
            </a:r>
          </a:p>
        </p:txBody>
      </p:sp>
    </p:spTree>
    <p:extLst>
      <p:ext uri="{BB962C8B-B14F-4D97-AF65-F5344CB8AC3E}">
        <p14:creationId xmlns:p14="http://schemas.microsoft.com/office/powerpoint/2010/main" val="403581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D61C-36A2-251F-9A3A-2023FE81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CA366-3508-9C7A-8929-125769A4C2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Input: 128 x 128 grayscale images</a:t>
            </a:r>
          </a:p>
          <a:p>
            <a:r>
              <a:rPr lang="en-US" dirty="0"/>
              <a:t>CNN architecture</a:t>
            </a:r>
          </a:p>
          <a:p>
            <a:r>
              <a:rPr lang="en-US" dirty="0"/>
              <a:t>Output: defect / no defect</a:t>
            </a:r>
          </a:p>
          <a:p>
            <a:r>
              <a:rPr lang="en-US" dirty="0"/>
              <a:t>Metric: F1 score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895E3-CFFA-6814-93BA-276D5377AD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F1= 0.82</a:t>
            </a:r>
          </a:p>
          <a:p>
            <a:pPr lvl="1"/>
            <a:r>
              <a:rPr lang="en-US" dirty="0"/>
              <a:t>Accuracy = 0.80</a:t>
            </a:r>
          </a:p>
        </p:txBody>
      </p:sp>
    </p:spTree>
    <p:extLst>
      <p:ext uri="{BB962C8B-B14F-4D97-AF65-F5344CB8AC3E}">
        <p14:creationId xmlns:p14="http://schemas.microsoft.com/office/powerpoint/2010/main" val="46158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A184-B30F-A393-DC40-E45F2F66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SEGMENTATION (U-NET)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5098-6F7D-1119-356B-DCC964AA80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Output: 4-channel mask (one per defect class)</a:t>
            </a:r>
          </a:p>
          <a:p>
            <a:r>
              <a:rPr lang="en-US" dirty="0"/>
              <a:t>Loss: </a:t>
            </a:r>
            <a:r>
              <a:rPr lang="en-US" dirty="0" err="1"/>
              <a:t>BCEWithLogitsLoss</a:t>
            </a:r>
            <a:endParaRPr lang="en-US" dirty="0"/>
          </a:p>
          <a:p>
            <a:r>
              <a:rPr lang="en-US" dirty="0"/>
              <a:t>Metric: Dice Coefficient</a:t>
            </a:r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Severe class imbalance</a:t>
            </a:r>
          </a:p>
          <a:p>
            <a:pPr lvl="1"/>
            <a:r>
              <a:rPr lang="en-US" dirty="0"/>
              <a:t>Sparse defect regions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13BAA-06AF-EC40-96C8-F4E7AF8815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Dice = 0.32</a:t>
            </a:r>
          </a:p>
        </p:txBody>
      </p:sp>
    </p:spTree>
    <p:extLst>
      <p:ext uri="{BB962C8B-B14F-4D97-AF65-F5344CB8AC3E}">
        <p14:creationId xmlns:p14="http://schemas.microsoft.com/office/powerpoint/2010/main" val="85285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4069-BAE2-5E40-5F51-AD484E83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Training Behavior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1271EC-4F4B-D974-17B3-BD0B5C1CEE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9465" y="2249488"/>
            <a:ext cx="4722282" cy="354171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9FECB-FEDA-0F0E-8086-FF76B0FB38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Loss decreases steadily</a:t>
            </a:r>
          </a:p>
          <a:p>
            <a:r>
              <a:rPr lang="en-US" dirty="0"/>
              <a:t>Dice climbs some but fluctuates and remains low</a:t>
            </a:r>
          </a:p>
          <a:p>
            <a:r>
              <a:rPr lang="en-US" dirty="0"/>
              <a:t>Indication of difficulty learning class-specific masks</a:t>
            </a:r>
          </a:p>
        </p:txBody>
      </p:sp>
    </p:spTree>
    <p:extLst>
      <p:ext uri="{BB962C8B-B14F-4D97-AF65-F5344CB8AC3E}">
        <p14:creationId xmlns:p14="http://schemas.microsoft.com/office/powerpoint/2010/main" val="208761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21FF-2493-10C9-BAC0-B68B1946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6923-E26B-BF4F-F5E1-86164D58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SEGMENTATION (U-NET)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048F6-A535-1262-2FB3-A4659F436A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Output: 1-channel mask (defect vs background)</a:t>
            </a:r>
          </a:p>
          <a:p>
            <a:r>
              <a:rPr lang="en-US" dirty="0"/>
              <a:t>Loss: </a:t>
            </a:r>
            <a:r>
              <a:rPr lang="en-US" dirty="0" err="1"/>
              <a:t>BCEWithLogitsLoss</a:t>
            </a:r>
            <a:endParaRPr lang="en-US" dirty="0"/>
          </a:p>
          <a:p>
            <a:r>
              <a:rPr lang="en-US" dirty="0"/>
              <a:t>Metric: Dice Coefficient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Reduced class imbalance</a:t>
            </a:r>
          </a:p>
          <a:p>
            <a:pPr lvl="1"/>
            <a:r>
              <a:rPr lang="en-US" dirty="0"/>
              <a:t>Stronger learning signal from combined defect regions</a:t>
            </a:r>
          </a:p>
          <a:p>
            <a:pPr lvl="1"/>
            <a:r>
              <a:rPr lang="en-US" dirty="0"/>
              <a:t>Better alignment with detection 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9C1F8-AA2D-C0FB-3DC6-942E246A9A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Dice = 0.56</a:t>
            </a:r>
          </a:p>
        </p:txBody>
      </p:sp>
    </p:spTree>
    <p:extLst>
      <p:ext uri="{BB962C8B-B14F-4D97-AF65-F5344CB8AC3E}">
        <p14:creationId xmlns:p14="http://schemas.microsoft.com/office/powerpoint/2010/main" val="917737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ED8E-FAD1-50B6-C64A-E13E5E50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BFF1-5247-B696-E97F-BFBB92A9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Training Behavior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56D590-56BE-F207-9599-84510D0F7A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1219465" y="2249488"/>
            <a:ext cx="4722282" cy="354171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365A1-944E-5303-4E2C-E416CCA5C6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Rapid early improvement</a:t>
            </a:r>
          </a:p>
          <a:p>
            <a:r>
              <a:rPr lang="en-US" dirty="0"/>
              <a:t>Stable convergence around 0.55</a:t>
            </a:r>
          </a:p>
          <a:p>
            <a:r>
              <a:rPr lang="en-US" dirty="0"/>
              <a:t>Much better learning signal</a:t>
            </a:r>
          </a:p>
        </p:txBody>
      </p:sp>
    </p:spTree>
    <p:extLst>
      <p:ext uri="{BB962C8B-B14F-4D97-AF65-F5344CB8AC3E}">
        <p14:creationId xmlns:p14="http://schemas.microsoft.com/office/powerpoint/2010/main" val="16631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9B12-A4E1-B76E-A2BE-ACDB3C83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0C77-BE20-EDA7-47DB-004FF29C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3C30C5-3B79-E691-00FC-293844E659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1219465" y="2249488"/>
            <a:ext cx="4722282" cy="354171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369EB-0BA2-B8AB-EAA3-F04B5C1D63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Classification using CNN performs well with minimal adjustments</a:t>
            </a:r>
          </a:p>
          <a:p>
            <a:r>
              <a:rPr lang="en-US" dirty="0"/>
              <a:t>Multiclass segmentation struggles</a:t>
            </a:r>
          </a:p>
          <a:p>
            <a:r>
              <a:rPr lang="en-US" dirty="0"/>
              <a:t>Binary segmentation significantly improves target metric performance</a:t>
            </a:r>
          </a:p>
          <a:p>
            <a:r>
              <a:rPr lang="en-US" dirty="0"/>
              <a:t>Important to distinguish target metric performance vs. problem solution</a:t>
            </a:r>
          </a:p>
        </p:txBody>
      </p:sp>
    </p:spTree>
    <p:extLst>
      <p:ext uri="{BB962C8B-B14F-4D97-AF65-F5344CB8AC3E}">
        <p14:creationId xmlns:p14="http://schemas.microsoft.com/office/powerpoint/2010/main" val="158086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0E41-EDC4-ED27-DE65-31E9B441F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1818"/>
            <a:ext cx="9905998" cy="1478570"/>
          </a:xfrm>
        </p:spPr>
        <p:txBody>
          <a:bodyPr/>
          <a:lstStyle/>
          <a:p>
            <a:r>
              <a:rPr lang="en-US" dirty="0"/>
              <a:t>Multiclass VS BINARY EXAMPLES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3D03A0C3-8A6B-5D32-4768-9A40A2C610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40806" y="2582863"/>
            <a:ext cx="2743200" cy="914400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951D5C0-C75D-313D-FEB3-53A1ECCE1F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40806" y="1639888"/>
            <a:ext cx="27432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666D9A2-B273-4D5C-11C8-EF7259FE1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806" y="5411788"/>
            <a:ext cx="27432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386F73-4F0C-2E2A-C767-1DA406EB8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806" y="4468813"/>
            <a:ext cx="2743200" cy="914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592E6F-62F2-7E3F-772D-20E5F49EE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0806" y="3525838"/>
            <a:ext cx="2743200" cy="914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8147C66-A340-AA68-F041-7595C7E4F36A}"/>
              </a:ext>
            </a:extLst>
          </p:cNvPr>
          <p:cNvGrpSpPr/>
          <p:nvPr/>
        </p:nvGrpSpPr>
        <p:grpSpPr>
          <a:xfrm>
            <a:off x="6816300" y="1639888"/>
            <a:ext cx="2743200" cy="4686300"/>
            <a:chOff x="7349700" y="1639888"/>
            <a:chExt cx="2743200" cy="46863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52D6A9E-9D32-9DD7-6A02-B97A2D370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49700" y="1639888"/>
              <a:ext cx="2743200" cy="9144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7E708EF-6699-FBCE-0C2A-799379B36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49700" y="2578469"/>
              <a:ext cx="2743200" cy="9144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BDFAF2A-5166-9929-D79E-BDB039192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49700" y="5411788"/>
              <a:ext cx="2743200" cy="9144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DC0FEEE-40FE-D11C-BBE7-D01BFEAE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49700" y="4469550"/>
              <a:ext cx="2743200" cy="9144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CF375FD-3F0A-B188-9896-42AC745A8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49700" y="3525838"/>
              <a:ext cx="2743200" cy="914400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A3B260A-52B0-F281-8EDC-8EB2A9949D7C}"/>
              </a:ext>
            </a:extLst>
          </p:cNvPr>
          <p:cNvSpPr txBox="1"/>
          <p:nvPr/>
        </p:nvSpPr>
        <p:spPr>
          <a:xfrm>
            <a:off x="3517900" y="6354763"/>
            <a:ext cx="138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Multiclass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700E9B-AF66-3ADE-A815-7251CAE41BC2}"/>
              </a:ext>
            </a:extLst>
          </p:cNvPr>
          <p:cNvSpPr txBox="1"/>
          <p:nvPr/>
        </p:nvSpPr>
        <p:spPr>
          <a:xfrm>
            <a:off x="7886700" y="6354763"/>
            <a:ext cx="138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231532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DFD29A-9B0C-1CE9-7DBE-89F1879B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Trade offs in segmentation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F45E0-9DE1-9E1D-5461-7914AB9F6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Multiclass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15AB3AC-A8FD-6D4C-4185-248C3E9A34C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distinguish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 imbalance hurts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Sparse and inconsistent labels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Weak class-specific learning goal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FCD0AF-77DE-38CA-439A-0F665B7AC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binary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78D2464-FA0A-3C57-20E3-33A7900FD2D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Stronger learning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Improved detection and spatial coherence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metric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Cannot distinguish defect types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C775C6-A114-CEF7-168B-D362FFAF74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1E74A15-582C-FB76-39EB-695040806EC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dice does not imply a better overall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formulation must match end application</a:t>
            </a:r>
          </a:p>
        </p:txBody>
      </p:sp>
    </p:spTree>
    <p:extLst>
      <p:ext uri="{BB962C8B-B14F-4D97-AF65-F5344CB8AC3E}">
        <p14:creationId xmlns:p14="http://schemas.microsoft.com/office/powerpoint/2010/main" val="1852146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4EB1-D924-3CDD-153B-1A7569EA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13DC-872E-5A32-E189-50C97319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1D9B-7256-7A5A-DC6B-FE6B4746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successful examples of detection and localization pipeline</a:t>
            </a:r>
          </a:p>
          <a:p>
            <a:r>
              <a:rPr lang="en-US" dirty="0"/>
              <a:t>Key metric improvement</a:t>
            </a:r>
          </a:p>
          <a:p>
            <a:r>
              <a:rPr lang="en-US" dirty="0"/>
              <a:t>Strong baseline for improvement for future project</a:t>
            </a:r>
          </a:p>
          <a:p>
            <a:r>
              <a:rPr lang="en-US" dirty="0"/>
              <a:t>Future work for improvement:</a:t>
            </a:r>
          </a:p>
          <a:p>
            <a:pPr lvl="1"/>
            <a:r>
              <a:rPr lang="en-US" dirty="0"/>
              <a:t>Data augmentation</a:t>
            </a:r>
          </a:p>
          <a:p>
            <a:pPr lvl="1"/>
            <a:r>
              <a:rPr lang="en-US" dirty="0"/>
              <a:t>High resolution inputs</a:t>
            </a:r>
          </a:p>
          <a:p>
            <a:pPr lvl="1"/>
            <a:r>
              <a:rPr lang="en-US" dirty="0"/>
              <a:t>Pretrained encoders</a:t>
            </a:r>
          </a:p>
          <a:p>
            <a:pPr lvl="1"/>
            <a:r>
              <a:rPr lang="en-US" dirty="0"/>
              <a:t>Multiclass strategies with improved class balancing</a:t>
            </a:r>
          </a:p>
        </p:txBody>
      </p:sp>
    </p:spTree>
    <p:extLst>
      <p:ext uri="{BB962C8B-B14F-4D97-AF65-F5344CB8AC3E}">
        <p14:creationId xmlns:p14="http://schemas.microsoft.com/office/powerpoint/2010/main" val="3960210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208</TotalTime>
  <Words>417</Words>
  <Application>Microsoft Macintosh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Tw Cen MT</vt:lpstr>
      <vt:lpstr>Circuit</vt:lpstr>
      <vt:lpstr>Deep Learning-Based Defect Detection and Localization in Steel Surface Images</vt:lpstr>
      <vt:lpstr>Motivation</vt:lpstr>
      <vt:lpstr>Project Analogies</vt:lpstr>
      <vt:lpstr>Dataset: Severstal Steel Defect Detection</vt:lpstr>
      <vt:lpstr>Approach Overview</vt:lpstr>
      <vt:lpstr>Classification Model</vt:lpstr>
      <vt:lpstr>MULTICLASS SEGMENTATION (U-NET)</vt:lpstr>
      <vt:lpstr>Multiclass Training Behavior</vt:lpstr>
      <vt:lpstr>Binary SEGMENTATION (U-NET)</vt:lpstr>
      <vt:lpstr>Binary Training Behavior</vt:lpstr>
      <vt:lpstr>Results comparison</vt:lpstr>
      <vt:lpstr>Multiclass VS BINARY EXAMPLES</vt:lpstr>
      <vt:lpstr>Discussion: Trade offs in segmentation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Rusty Johnston</dc:creator>
  <cp:lastModifiedBy>Rusty Johnston</cp:lastModifiedBy>
  <cp:revision>1</cp:revision>
  <dcterms:created xsi:type="dcterms:W3CDTF">2026-04-26T20:19:23Z</dcterms:created>
  <dcterms:modified xsi:type="dcterms:W3CDTF">2026-04-26T23:47:30Z</dcterms:modified>
</cp:coreProperties>
</file>